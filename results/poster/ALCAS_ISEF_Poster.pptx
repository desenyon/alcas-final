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4206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 Black"/>
              </a:defRPr>
            </a:pPr>
            <a:r>
              <a:t>ALCAS: Allosterically-Constrained Affinity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206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DCFF"/>
                </a:solidFill>
                <a:latin typeface="Calibri"/>
              </a:defRPr>
            </a:pPr>
            <a:r>
              <a:t>Machine Learning for Rational Enzyme Design: Targeting Allosteric Sites to Engineer Superior PETase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206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6600"/>
                </a:solidFill>
                <a:latin typeface="Calibri"/>
              </a:defRPr>
            </a:pPr>
            <a:r>
              <a:t>Naitik Jariwala  •  ISEF 2025  •  Computational Biology &amp; Bioinformatics  •  CMBIO047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1371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353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13716000" cy="23317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3350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Calibri"/>
              </a:defRPr>
            </a:pPr>
            <a:r>
              <a:t>Plastic pollution threatens global ecosystems, with &lt;9% of plastics recycled. PETase enzymes degrade PET plastic but are too slow for industrial use. Traditional enzyme engineering focuses on active-site mutations, yielding diminishing returns.</a:t>
            </a:r>
            <a:br/>
            <a:br/>
            <a:r>
              <a:t>HYPOTHESIS: Allosteric mutations (distant from active site but dynamically coupled) outperform traditional active-site mutations.</a:t>
            </a:r>
            <a:br/>
            <a:br/>
            <a:r>
              <a:t>APPROACH: Developed ALCAS combining graph neural networks (15,938 complexes, R²=0.448) with molecular dynamics to identify allosteric coupling. Designed 100 PETase variants under matched budgets.</a:t>
            </a:r>
            <a:br/>
            <a:br/>
            <a:r>
              <a:t>RESULTS: Allosteric mutations outperformed active-site by 5.3% (p&lt;0.001). Validated via ESMFold structures, statistical testing, and comprehensive ablations.</a:t>
            </a:r>
            <a:br/>
            <a:br/>
            <a:r>
              <a:t>IMPACT: First ML-based allosteric enzyme design, opening new paradigms in protein engineering.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144000"/>
            <a:ext cx="1371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189720"/>
            <a:ext cx="1353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9601200"/>
            <a:ext cx="13716000" cy="14173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9784080"/>
            <a:ext cx="1335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alibri"/>
              </a:defRPr>
            </a:pPr>
            <a:r>
              <a:t>• 380 million tons plastic/year, &lt;9% recycled</a:t>
            </a:r>
            <a:br/>
            <a:r>
              <a:t>- PET degrades slowly (450+ years in environment)</a:t>
            </a:r>
            <a:br/>
            <a:r>
              <a:t>- PETase can degrade PET but too inefficient</a:t>
            </a:r>
            <a:br/>
            <a:r>
              <a:t>- Active-site engineering plateaued</a:t>
            </a:r>
            <a:br/>
            <a:r>
              <a:t>- Need: Computational method for breakthrough improvement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2344400"/>
            <a:ext cx="1371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2390120"/>
            <a:ext cx="1353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INNOVATION &amp; NOVELTY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2801600"/>
            <a:ext cx="13716000" cy="14173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2984480"/>
            <a:ext cx="13350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alibri"/>
              </a:defRPr>
            </a:pPr>
            <a:r>
              <a:t>✓ First allosteric-constrained ML enzyme design</a:t>
            </a:r>
            <a:br/>
            <a:r>
              <a:t>✓ Graph neural networks + molecular dynamics</a:t>
            </a:r>
            <a:br/>
            <a:r>
              <a:t>✓ Matched-budget comparison (fair evaluation)</a:t>
            </a:r>
            <a:br/>
            <a:r>
              <a:t>✓ 7 advanced extensions (transfer learning, Pareto, ESM-2)</a:t>
            </a:r>
            <a:br/>
            <a:r>
              <a:t>✓ Comprehensive validation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55448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Figure 1: PETase Mutation Regions in 3D Space</a:t>
            </a:r>
          </a:p>
        </p:txBody>
      </p:sp>
      <p:pic>
        <p:nvPicPr>
          <p:cNvPr id="19" name="Picture 18" descr="mutation_regions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0"/>
            <a:ext cx="13716000" cy="143763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228600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Figure 2: Allosteric Site Selection (Distance-Based Filtering)</a:t>
            </a:r>
          </a:p>
        </p:txBody>
      </p:sp>
      <p:pic>
        <p:nvPicPr>
          <p:cNvPr id="21" name="Picture 20" descr="distanc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317200"/>
            <a:ext cx="13716000" cy="677119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5087600" y="3200400"/>
            <a:ext cx="1371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179040" y="3246120"/>
            <a:ext cx="1353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METHODS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087600" y="3657600"/>
            <a:ext cx="13716000" cy="64465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70480" y="3840480"/>
            <a:ext cx="13350240" cy="617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Calibri"/>
              </a:defRPr>
            </a:pPr>
            <a:r>
              <a:t>1. DATA PROCESSING</a:t>
            </a:r>
            <a:br/>
            <a:r>
              <a:t>- PDBbind: 16,259 protein-ligand complexes</a:t>
            </a:r>
            <a:br/>
            <a:r>
              <a:t>- Molecular graphs: 15,938 (atom-level features)</a:t>
            </a:r>
            <a:br/>
            <a:r>
              <a:t>- Protein cluster splits (prevent leakage)</a:t>
            </a:r>
            <a:br/>
            <a:br/>
            <a:r>
              <a:t>2. MODEL ARCHITECTURE</a:t>
            </a:r>
            <a:br/>
            <a:r>
              <a:t>- Graph Isomorphism Networks (GIN)</a:t>
            </a:r>
            <a:br/>
            <a:r>
              <a:t>- Virtual nodes + cross-attention</a:t>
            </a:r>
            <a:br/>
            <a:r>
              <a:t>- 5 layers × 256 hidden dimensions</a:t>
            </a:r>
            <a:br/>
            <a:r>
              <a:t>- 4-model ensemble (6.3M parameters)</a:t>
            </a:r>
            <a:br/>
            <a:br/>
            <a:r>
              <a:t>3. ALLOSTERIC IDENTIFICATION</a:t>
            </a:r>
            <a:br/>
            <a:r>
              <a:t>- Molecular dynamics (50ns, apo PETase)</a:t>
            </a:r>
            <a:br/>
            <a:r>
              <a:t>- Network analysis (betweenness centrality)</a:t>
            </a:r>
            <a:br/>
            <a:r>
              <a:t>- Dynamic coupling (correlation/MI)</a:t>
            </a:r>
            <a:br/>
            <a:r>
              <a:t>- Criteria: &gt;12Å distance + top coupling</a:t>
            </a:r>
            <a:br/>
            <a:br/>
            <a:r>
              <a:t>4. VARIANT DESIGN</a:t>
            </a:r>
            <a:br/>
            <a:r>
              <a:t>- 50 active + 50 allosteric variants</a:t>
            </a:r>
            <a:br/>
            <a:r>
              <a:t>- Matched computational budget</a:t>
            </a:r>
            <a:br/>
            <a:r>
              <a:t>- Ensemble scoring (μ ± σ)</a:t>
            </a:r>
            <a:br/>
            <a:br/>
            <a:r>
              <a:t>5. VALIDATION</a:t>
            </a:r>
            <a:br/>
            <a:r>
              <a:t>- ESMFold structure prediction</a:t>
            </a:r>
            <a:br/>
            <a:r>
              <a:t>- Statistical testing (Mann-Whitney U)</a:t>
            </a:r>
            <a:br/>
            <a:r>
              <a:t>- Ablation studies</a:t>
            </a:r>
            <a:br/>
            <a:r>
              <a:t>- Baseline comparisons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0" y="137160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Calibri"/>
              </a:defRPr>
            </a:pPr>
            <a:r>
              <a:t>Mathematical Framework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0" y="14173200"/>
            <a:ext cx="13716000" cy="32004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361920" y="14447520"/>
            <a:ext cx="1316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Courier New"/>
              </a:defRPr>
            </a:pPr>
            <a:r>
              <a:t>Graph Neural Network Update:</a:t>
            </a:r>
            <a:br/>
            <a:r>
              <a:t>h_i^(k+1) = MLP( h_i^(k) + Σ_j∈N(i) h_j^(k) )</a:t>
            </a:r>
            <a:br/>
            <a:br/>
            <a:r>
              <a:t>Ensemble Prediction &amp; Uncertainty:</a:t>
            </a:r>
            <a:br/>
            <a:r>
              <a:t>μ = (1/M) Σ_m f_m(x)</a:t>
            </a:r>
            <a:br/>
            <a:r>
              <a:t>σ² = (1/M) Σ_m (f_m(x) - μ)²</a:t>
            </a:r>
            <a:br/>
            <a:br/>
            <a:r>
              <a:t>Pareto Dominance:</a:t>
            </a:r>
            <a:br/>
            <a:r>
              <a:t>x ≻ y ⟺ ∀i: f_i(x) ≥ f_i(y) ∧ ∃j: f_j(x) &gt; f_j(y)</a:t>
            </a:r>
            <a:br/>
            <a:br/>
            <a:r>
              <a:t>Statistical Significance:</a:t>
            </a:r>
            <a:br/>
            <a:r>
              <a:t>U = n₁n₂ + n₁(n₁+1)/2 - R₁</a:t>
            </a:r>
            <a:br/>
            <a:r>
              <a:t>p-value from Mann-Whitney U distribution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0" y="178308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Figure 3: Model Training Performance (4-Model Ensemble)</a:t>
            </a:r>
          </a:p>
        </p:txBody>
      </p:sp>
      <p:pic>
        <p:nvPicPr>
          <p:cNvPr id="30" name="Picture 29" descr="fig1_model_trai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0" y="18288000"/>
            <a:ext cx="13716000" cy="97547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087600" y="246888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Figure 4: Multi-Objective Pareto Optimization (52 Optimal Solutions)</a:t>
            </a:r>
          </a:p>
        </p:txBody>
      </p:sp>
      <p:pic>
        <p:nvPicPr>
          <p:cNvPr id="32" name="Picture 31" descr="pareto_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0" y="25146000"/>
            <a:ext cx="13716000" cy="12213103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29718000" y="3200400"/>
            <a:ext cx="13716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809440" y="3246120"/>
            <a:ext cx="1353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RESULTS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00" y="3657600"/>
            <a:ext cx="13716000" cy="48463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0" y="3840480"/>
            <a:ext cx="13350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PRIMARY FINDING</a:t>
            </a:r>
            <a:br/>
            <a:r>
              <a:t>Allosteric &gt; Active-site by 5.3%</a:t>
            </a:r>
            <a:br/>
            <a:r>
              <a:t>p &lt; 0.001 (Mann-Whitney U)</a:t>
            </a:r>
            <a:br/>
            <a:br/>
            <a:r>
              <a:t>MODEL PERFORMANCE</a:t>
            </a:r>
            <a:br/>
            <a:r>
              <a:t>- R² = 0.448 (test set)</a:t>
            </a:r>
            <a:br/>
            <a:r>
              <a:t>- Pearson r = 0.673</a:t>
            </a:r>
            <a:br/>
            <a:r>
              <a:t>- Calibrated uncertainty (r=0.113)</a:t>
            </a:r>
            <a:br/>
            <a:br/>
            <a:r>
              <a:t>DESIGNED VARIANTS</a:t>
            </a:r>
            <a:br/>
            <a:r>
              <a:t>- 100 total (50 active, 50 allosteric)</a:t>
            </a:r>
            <a:br/>
            <a:r>
              <a:t>- 20 structures predicted (ESMFold)</a:t>
            </a:r>
            <a:br/>
            <a:r>
              <a:t>- Allosteric: 7.09 ± 0.52 pKd</a:t>
            </a:r>
            <a:br/>
            <a:r>
              <a:t>- Active-site: 6.73 ± 0.48 pKd</a:t>
            </a:r>
            <a:br/>
            <a:r>
              <a:t>- Effect size: Cohen's d = 0.71</a:t>
            </a:r>
            <a:br/>
            <a:br/>
            <a:r>
              <a:t>VALIDATION</a:t>
            </a:r>
            <a:br/>
            <a:r>
              <a:t>- Ablations: All components essential</a:t>
            </a:r>
            <a:br/>
            <a:r>
              <a:t>- vs Conservation: +40% (p&lt;0.0001)</a:t>
            </a:r>
            <a:br/>
            <a:r>
              <a:t>- Transfer learning: +6.3% R²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0" y="100584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Figure 5: Allosteric vs Active-Site Comparison (Primary Finding)</a:t>
            </a:r>
          </a:p>
        </p:txBody>
      </p:sp>
      <p:pic>
        <p:nvPicPr>
          <p:cNvPr id="38" name="Picture 37" descr="fig2_alcas_resul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0" y="10515600"/>
            <a:ext cx="13716000" cy="41970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9718000" y="169164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Figure 6: Complete Mutation Landscape (265 positions × 20 amino acids)</a:t>
            </a:r>
          </a:p>
        </p:txBody>
      </p:sp>
      <p:pic>
        <p:nvPicPr>
          <p:cNvPr id="40" name="Picture 39" descr="full_mutation_landscap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8000" y="17373600"/>
            <a:ext cx="13716000" cy="1114191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9718000" y="2377440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Figure 7: Comprehensive Performance Summary</a:t>
            </a:r>
          </a:p>
        </p:txBody>
      </p:sp>
      <p:pic>
        <p:nvPicPr>
          <p:cNvPr id="42" name="Picture 41" descr="fig3_summary_statistic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18000" y="24231600"/>
            <a:ext cx="13716000" cy="9579533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29718000"/>
            <a:ext cx="43891200" cy="54864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29763719"/>
            <a:ext cx="4206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ADVANCED EXTENSIONS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0358080"/>
            <a:ext cx="4297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Calibri"/>
              </a:defRPr>
            </a:pPr>
            <a:r>
              <a:t>• UNCERTAINTY-GUIDED DESIGN: Bayesian acquisition (UCB, Thompson sampling) for efficient exploration  • TRANSFER LEARNING: Fine-tuning improved R² by 6.3% on affinity extremes</a:t>
            </a:r>
            <a:br/>
            <a:r>
              <a:t>- ESM-2 INTEGRATION: Tested protein language models (8,613 sequences) - structure alone sufficient  • PARETO OPTIMIZATION: 52 solutions balancing affinity/stability/solubility</a:t>
            </a:r>
            <a:br/>
            <a:r>
              <a:t>- ABLATION STUDIES: GIN +82%, Virtual Nodes +138%, Cross-Attention +189%  • BASELINE COMPARISON: Outperforms evolutionary conservation by 40%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31272480"/>
            <a:ext cx="219456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1318200"/>
            <a:ext cx="2103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CONCLUSIONS &amp; IMPACT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1821120"/>
            <a:ext cx="2103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Calibri"/>
              </a:defRPr>
            </a:pPr>
            <a:r>
              <a:t>• FIRST allosteric-constrained ML enzyme design</a:t>
            </a:r>
            <a:br/>
            <a:r>
              <a:t>- Allosteric sites outperform active-site (+5.3%, p&lt;0.001)</a:t>
            </a:r>
            <a:br/>
            <a:r>
              <a:t>- Method generalizes (transfer learning validated)</a:t>
            </a:r>
            <a:br/>
            <a:r>
              <a:t>- Accelerates plastic bioremediation</a:t>
            </a:r>
            <a:br/>
            <a:r>
              <a:t>- Paradigm shift for rational protein engineering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0" y="31272480"/>
            <a:ext cx="219456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402800" y="31318200"/>
            <a:ext cx="2103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KEY REFERENCES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402800" y="31821120"/>
            <a:ext cx="2103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  <a:r>
              <a:t>[1] Austin et al. PNAS 2018 - PETase discovery  [2] Gilmer et al. ICML 2017 - Neural message passing</a:t>
            </a:r>
            <a:br/>
            <a:r>
              <a:t>[3] Xu et al. ICLR 2019 - GIN theory  [4] Lin et al. bioRxiv 2022 - ESMFold  [5] Liu et al. - PDBbind database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